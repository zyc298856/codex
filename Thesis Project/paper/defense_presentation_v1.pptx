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2"/>
          </a:solidFill>
          <a:ln w="10160">
            <a:solidFill>
              <a:srgbClr val="0E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-91440"/>
            <a:ext cx="4754880" cy="7132320"/>
          </a:xfrm>
          <a:prstGeom prst="rect">
            <a:avLst/>
          </a:prstGeom>
          <a:solidFill>
            <a:srgbClr val="1266AA"/>
          </a:solidFill>
          <a:ln w="10160">
            <a:solidFill>
              <a:srgbClr val="12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438912"/>
            <a:ext cx="3383280" cy="5212080"/>
          </a:xfrm>
          <a:prstGeom prst="rect">
            <a:avLst/>
          </a:prstGeom>
          <a:solidFill>
            <a:srgbClr val="F1F7FC"/>
          </a:solidFill>
          <a:ln w="10160">
            <a:solidFill>
              <a:srgbClr val="F1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02752" y="822960"/>
            <a:ext cx="21945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66AA"/>
                </a:solidFill>
                <a:latin typeface="Aptos Display"/>
              </a:rPr>
              <a:t>RK3588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2752" y="1426464"/>
            <a:ext cx="2743200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E1F32"/>
                </a:solidFill>
                <a:latin typeface="Microsoft YaHei"/>
              </a:rPr>
              <a:t>NPU 多线程
实时目标检测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39327" y="2743200"/>
            <a:ext cx="1097280" cy="310896"/>
          </a:xfrm>
          <a:prstGeom prst="roundRect">
            <a:avLst/>
          </a:prstGeom>
          <a:solidFill>
            <a:srgbClr val="26A69A"/>
          </a:solidFill>
          <a:ln w="1016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2798064"/>
            <a:ext cx="9509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PyTorch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39327" y="3218688"/>
            <a:ext cx="1097280" cy="310896"/>
          </a:xfrm>
          <a:prstGeom prst="roundRect">
            <a:avLst/>
          </a:prstGeom>
          <a:solidFill>
            <a:srgbClr val="26A69A"/>
          </a:solidFill>
          <a:ln w="1016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273552"/>
            <a:ext cx="9509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ONNX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7" y="3694176"/>
            <a:ext cx="1097280" cy="310896"/>
          </a:xfrm>
          <a:prstGeom prst="roundRect">
            <a:avLst/>
          </a:prstGeom>
          <a:solidFill>
            <a:srgbClr val="EF892B"/>
          </a:solidFill>
          <a:ln w="10160">
            <a:solidFill>
              <a:srgbClr val="E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749039"/>
            <a:ext cx="9509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RKNN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9327" y="4169664"/>
            <a:ext cx="1097280" cy="310896"/>
          </a:xfrm>
          <a:prstGeom prst="roundRect">
            <a:avLst/>
          </a:prstGeom>
          <a:solidFill>
            <a:srgbClr val="26A69A"/>
          </a:solidFill>
          <a:ln w="1016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224528"/>
            <a:ext cx="95097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RTSP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097280"/>
            <a:ext cx="630936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20240"/>
            <a:ext cx="43891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5EFF8"/>
                </a:solidFill>
                <a:latin typeface="Microsoft YaHei"/>
              </a:rPr>
              <a:t>本科毕业论文（设计）答辩汇报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60350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5EFF8"/>
                </a:solidFill>
                <a:latin typeface="Microsoft YaHei"/>
              </a:rPr>
              <a:t>朱奕澄  |  通信与信息工程学院  |  电子信息工程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42432"/>
            <a:ext cx="6400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6A69A"/>
                </a:solidFill>
                <a:latin typeface="Microsoft YaHei"/>
              </a:rPr>
              <a:t>研究重点：模型迁移、RKNN 部署、实时流水线、NPU 多 context 并行与硬件优化实验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01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研究背景：边缘端小目标检测需要系统级优化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无人机/小目标检测不仅是模型精度问题，也是嵌入式平台上的实时工程问题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577840" cy="1920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远距离目标在图像中占比小，容易受天空、建筑、树木、鸟类和光照干扰。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嵌入式平台算力、内存带宽、视频编码和线程调度共同影响实时显示效果。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• 导师关注的核心方向是 RK3588 NPU 多线程与硬件协同优化，而不是单纯换一个更大的模型。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389888"/>
            <a:ext cx="44805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12280" y="1389888"/>
            <a:ext cx="73152" cy="841248"/>
          </a:xfrm>
          <a:prstGeom prst="rect">
            <a:avLst/>
          </a:prstGeom>
          <a:solidFill>
            <a:srgbClr val="1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76872" y="1536192"/>
            <a:ext cx="418795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检测难点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72" y="1847088"/>
            <a:ext cx="418795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小目标、背景干扰、框抖动、漏检/误检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450592"/>
            <a:ext cx="44805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2450592"/>
            <a:ext cx="73152" cy="84124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2596896"/>
            <a:ext cx="418795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部署难点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2907792"/>
            <a:ext cx="418795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NPU 推理、CPU 后处理、内存拷贝、RTSP 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511296"/>
            <a:ext cx="44805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511296"/>
            <a:ext cx="73152" cy="841248"/>
          </a:xfrm>
          <a:prstGeom prst="rect">
            <a:avLst/>
          </a:prstGeom>
          <a:solidFill>
            <a:srgbClr val="EF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6872" y="3657600"/>
            <a:ext cx="418795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论文定位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3968496"/>
            <a:ext cx="418795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以工程实现和实验验证为主，稳健描述边界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02 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任务目标与完成情况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以“能跑通、可复现、可解释”为主线推进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420624"/>
          </a:xfrm>
          <a:prstGeom prst="rect">
            <a:avLst/>
          </a:prstGeom>
          <a:solidFill>
            <a:srgbClr val="1266AA"/>
          </a:solidFill>
          <a:ln w="10160">
            <a:solidFill>
              <a:srgbClr val="12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17904"/>
            <a:ext cx="168249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任务线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417320"/>
            <a:ext cx="2331720" cy="420624"/>
          </a:xfrm>
          <a:prstGeom prst="rect">
            <a:avLst/>
          </a:prstGeom>
          <a:solidFill>
            <a:srgbClr val="1266AA"/>
          </a:solidFill>
          <a:ln w="10160">
            <a:solidFill>
              <a:srgbClr val="12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517904"/>
            <a:ext cx="2185415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当前状态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5257800" cy="420624"/>
          </a:xfrm>
          <a:prstGeom prst="rect">
            <a:avLst/>
          </a:prstGeom>
          <a:solidFill>
            <a:srgbClr val="1266AA"/>
          </a:solidFill>
          <a:ln w="10160">
            <a:solidFill>
              <a:srgbClr val="12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62472" y="1517904"/>
            <a:ext cx="511149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答辩表述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74519"/>
            <a:ext cx="1828800" cy="585216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02536"/>
            <a:ext cx="1645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模型迁移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1874519"/>
            <a:ext cx="2331720" cy="585216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002536"/>
            <a:ext cx="2148839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1">
                <a:solidFill>
                  <a:srgbClr val="1E293B"/>
                </a:solidFill>
                <a:latin typeface="Microsoft YaHei"/>
              </a:rPr>
              <a:t>已完成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874519"/>
            <a:ext cx="5257800" cy="585216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59" y="2002536"/>
            <a:ext cx="5074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PyTorch→ONNX→RKNN，稳定主线采用 FP RKNN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32887"/>
            <a:ext cx="18288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60903"/>
            <a:ext cx="1645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实时检测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2532887"/>
            <a:ext cx="23317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2660903"/>
            <a:ext cx="2148839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1">
                <a:solidFill>
                  <a:srgbClr val="1E293B"/>
                </a:solidFill>
                <a:latin typeface="Microsoft YaHei"/>
              </a:rPr>
              <a:t>已跑通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532887"/>
            <a:ext cx="52578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59" y="2660903"/>
            <a:ext cx="5074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固定视频和 USB 摄像头 RTSP 均可输出检测画面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191256"/>
            <a:ext cx="1828800" cy="585216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19272"/>
            <a:ext cx="1645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NPU 多线程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3191256"/>
            <a:ext cx="2331720" cy="585216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3319272"/>
            <a:ext cx="2148839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1">
                <a:solidFill>
                  <a:srgbClr val="1E293B"/>
                </a:solidFill>
                <a:latin typeface="Microsoft YaHei"/>
              </a:rPr>
              <a:t>已验证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191256"/>
            <a:ext cx="5257800" cy="585216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59" y="3319272"/>
            <a:ext cx="5074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双 context 可作为硬件并行实验重点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49624"/>
            <a:ext cx="18288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77639"/>
            <a:ext cx="1645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RGA/Zero-copy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3849624"/>
            <a:ext cx="23317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63240" y="3977639"/>
            <a:ext cx="2148839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实验路径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3849624"/>
            <a:ext cx="525780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59" y="3977639"/>
            <a:ext cx="5074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已有可切换实现，作为硬件优化对比而非默认路径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507992"/>
            <a:ext cx="1828800" cy="585216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636007"/>
            <a:ext cx="1645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GPIO 报警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1800" y="4507992"/>
            <a:ext cx="2331720" cy="585216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3240" y="4636007"/>
            <a:ext cx="2148839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替代实现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4507992"/>
            <a:ext cx="5257800" cy="585216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59" y="4636007"/>
            <a:ext cx="5074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Microsoft YaHei"/>
              </a:rPr>
              <a:t>无外设条件下使用软件告警叠加和日志记录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03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从视频输入到检测结果输出采用分层、可切换的流水线设计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73152" cy="71323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75104"/>
            <a:ext cx="112471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视频输入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86000"/>
            <a:ext cx="1124712" cy="2011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文件 / USB / RTSP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2880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828800"/>
            <a:ext cx="73152" cy="71323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975104"/>
            <a:ext cx="112471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预处理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2286000"/>
            <a:ext cx="1124712" cy="2011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OpenCV / RGA 可选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15087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73152" cy="713232"/>
          </a:xfrm>
          <a:prstGeom prst="rect">
            <a:avLst/>
          </a:prstGeom>
          <a:solidFill>
            <a:srgbClr val="EF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975104"/>
            <a:ext cx="1216151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RKNN 推理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286000"/>
            <a:ext cx="1216151" cy="2011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NPU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82880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828800"/>
            <a:ext cx="73152" cy="713232"/>
          </a:xfrm>
          <a:prstGeom prst="rect">
            <a:avLst/>
          </a:prstGeom>
          <a:solidFill>
            <a:srgbClr val="1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1" y="1975104"/>
            <a:ext cx="112471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后处理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1" y="2286000"/>
            <a:ext cx="1124712" cy="2011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解码、阈值、NMS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1828800"/>
            <a:ext cx="15087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6760" y="1828800"/>
            <a:ext cx="73152" cy="713232"/>
          </a:xfrm>
          <a:prstGeom prst="rect">
            <a:avLst/>
          </a:prstGeom>
          <a:solidFill>
            <a:srgbClr val="4A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1352" y="1975104"/>
            <a:ext cx="1216151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策略控制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2286000"/>
            <a:ext cx="1216151" cy="2011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间隔检测、ROI、跟踪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1828800"/>
            <a:ext cx="13258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32720" y="1828800"/>
            <a:ext cx="73152" cy="713232"/>
          </a:xfrm>
          <a:prstGeom prst="rect">
            <a:avLst/>
          </a:prstGeom>
          <a:solidFill>
            <a:srgbClr val="D64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97312" y="1975104"/>
            <a:ext cx="1033271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97312" y="2286000"/>
            <a:ext cx="1033271" cy="2011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视频 / CSV / RTSP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0" y="2185416"/>
            <a:ext cx="438912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069080" y="2185416"/>
            <a:ext cx="438912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35040" y="2185416"/>
            <a:ext cx="438912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09560" y="2185416"/>
            <a:ext cx="438912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875520" y="2185416"/>
            <a:ext cx="438912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60120" y="3657600"/>
            <a:ext cx="10241280" cy="12344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固定视频路径：用于可重复实验、生成带框视频、CSV、ROI JSONL 和告警事件。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实时 RTSP 路径：用于摄像头演示和实时观看，强调低延迟与视觉稳定性。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硬件优化路径：multi-context、RGA、zero-copy、profiling 均通过环境变量开关控制。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04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模型迁移：从训练模型到 RK3588 可执行模型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核心不是只导出模型，而是保证输出格式和后处理逻辑一致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20574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73152" cy="841248"/>
          </a:xfrm>
          <a:prstGeom prst="rect">
            <a:avLst/>
          </a:prstGeom>
          <a:solidFill>
            <a:srgbClr val="1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37944"/>
            <a:ext cx="176479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训练权重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176479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best.pt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112264"/>
            <a:ext cx="429768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1691640"/>
            <a:ext cx="20574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691640"/>
            <a:ext cx="73152" cy="841248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1837944"/>
            <a:ext cx="176479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中间格式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148840"/>
            <a:ext cx="176479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best.onnx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23560" y="2112264"/>
            <a:ext cx="429768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60" y="1691640"/>
            <a:ext cx="20574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91640"/>
            <a:ext cx="73152" cy="841248"/>
          </a:xfrm>
          <a:prstGeom prst="rect">
            <a:avLst/>
          </a:prstGeom>
          <a:solidFill>
            <a:srgbClr val="EF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837944"/>
            <a:ext cx="176479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板端模型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148840"/>
            <a:ext cx="176479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best.rk3588.fp.rknn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66760" y="2112264"/>
            <a:ext cx="429768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52560" y="1691640"/>
            <a:ext cx="20574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691640"/>
            <a:ext cx="73152" cy="841248"/>
          </a:xfrm>
          <a:prstGeom prst="rect">
            <a:avLst/>
          </a:prstGeom>
          <a:solidFill>
            <a:srgbClr val="4A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1837944"/>
            <a:ext cx="176479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C++ 后处理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2148840"/>
            <a:ext cx="176479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[1,5,8400] / end2end 兼容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246120"/>
            <a:ext cx="10104120" cy="1234440"/>
          </a:xfrm>
          <a:prstGeom prst="round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493008"/>
            <a:ext cx="173736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E1F32"/>
                </a:solidFill>
                <a:latin typeface="Microsoft YaHei"/>
              </a:rPr>
              <a:t>输出张量设计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438144"/>
            <a:ext cx="790956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icrosoft YaHei"/>
              </a:rPr>
              <a:t>8400 = 80×80 + 40×40 + 20×20，来自 YOLOv10 三个检测头；当前单类模型采用 5 通道输出，后处理同时兼容 COCO 84 通道与 end2end 6 通道格式。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83480"/>
            <a:ext cx="950976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</a:rPr>
              <a:t>• 稳定主线采用 FP RKNN；INT8 已作为后续量化闭环方向，而不是当前主结论。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05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部署平台：RK3588 的异构计算资源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CPU、NPU、RGA、视频编解码器共同决定系统实时性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05740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F892B"/>
                </a:solidFill>
                <a:latin typeface="Microsoft YaHei"/>
              </a:rPr>
              <a:t>6 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66543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Microsoft YaHei"/>
              </a:rPr>
              <a:t>NPU 算力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40864"/>
            <a:ext cx="20574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</a:rPr>
              <a:t>INT8 峰值能力，当前稳定主线为 FP RKNN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572768"/>
            <a:ext cx="22402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266AA"/>
                </a:solidFill>
                <a:latin typeface="Microsoft YaHei"/>
              </a:rPr>
              <a:t>4+4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066543"/>
            <a:ext cx="22402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Microsoft YaHei"/>
              </a:rPr>
              <a:t>CPU 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40864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</a:rPr>
              <a:t>Cortex-A76 + Cortex-A55 big.LITTLE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572768"/>
            <a:ext cx="251460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6A69A"/>
                </a:solidFill>
                <a:latin typeface="Microsoft YaHei"/>
              </a:rPr>
              <a:t>Mali-G610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066543"/>
            <a:ext cx="25146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Microsoft YaHei"/>
              </a:rPr>
              <a:t>图形/视频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340864"/>
            <a:ext cx="25146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</a:rPr>
              <a:t>配合硬件编解码和 RGA 减轻 CPU 负担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572768"/>
            <a:ext cx="21488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AAD5C"/>
                </a:solidFill>
                <a:latin typeface="Microsoft YaHei"/>
              </a:rPr>
              <a:t>实时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066543"/>
            <a:ext cx="21488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Microsoft YaHei"/>
              </a:rPr>
              <a:t>系统目标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340864"/>
            <a:ext cx="214884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</a:rPr>
              <a:t>在低功耗板端完成检测和显示输出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703320"/>
            <a:ext cx="10241280" cy="11887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NPU 负责神经网络推理；CPU 负责线程调度、后处理、日志和策略控制。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RGA 可承担缩放、色彩转换等图像处理任务，但是否提升端到端性能需要实测。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内存带宽与数据拷贝路径会影响推理前后的整体延迟。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06 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两条运行路径：固定视频实验与实时 RTSP 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固定视频保证可复现，RTSP 证明真实部署能力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600200"/>
            <a:ext cx="43891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600200"/>
            <a:ext cx="73152" cy="914400"/>
          </a:xfrm>
          <a:prstGeom prst="rect">
            <a:avLst/>
          </a:prstGeom>
          <a:solidFill>
            <a:srgbClr val="1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746504"/>
            <a:ext cx="4096511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rk_yolo_video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057400"/>
            <a:ext cx="4096511" cy="40233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输入视频文件，输出带框视频、CSV、ROI JSONL、告警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00200"/>
            <a:ext cx="43891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600200"/>
            <a:ext cx="73152" cy="9144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746504"/>
            <a:ext cx="4096511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rk_yolo_live_rtsp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057400"/>
            <a:ext cx="4096511" cy="40233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输入 USB 摄像头或文件，输出实时 RTSP 画面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13248" y="2057400"/>
            <a:ext cx="1078992" cy="0"/>
          </a:xfrm>
          <a:prstGeom prst="line">
            <a:avLst/>
          </a:prstGeom>
          <a:ln w="25400">
            <a:solidFill>
              <a:srgbClr val="EF8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" y="3657600"/>
            <a:ext cx="10058400" cy="1325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论文主实验：优先使用固定视频路径，便于重复比较不同参数和硬件优化策略。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答辩演示：优先使用实时 RTSP 路径，可在电脑端观看带框检测画面。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两条路径共享 RKNN 检测器实现，减少代码分叉和实验口径不一致。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07 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实时视频处理流水线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采集、推理、策略控制和输出解耦，避免单个慢模块拖垮系统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691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86868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37944"/>
            <a:ext cx="139903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采集线程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48840"/>
            <a:ext cx="1399032" cy="35661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读取摄像头/视频帧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121408"/>
            <a:ext cx="438912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691640"/>
            <a:ext cx="1691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691640"/>
            <a:ext cx="73152" cy="86868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837944"/>
            <a:ext cx="139903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任务队列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148840"/>
            <a:ext cx="1399032" cy="35661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有限队列，丢弃过期帧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17720" y="2121408"/>
            <a:ext cx="438912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1691640"/>
            <a:ext cx="1691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60" y="1691640"/>
            <a:ext cx="73152" cy="868680"/>
          </a:xfrm>
          <a:prstGeom prst="rect">
            <a:avLst/>
          </a:prstGeom>
          <a:solidFill>
            <a:srgbClr val="EF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1837944"/>
            <a:ext cx="139903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推理 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148840"/>
            <a:ext cx="1399032" cy="35661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独立 RKNN context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0" y="2121408"/>
            <a:ext cx="438912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0" y="1691640"/>
            <a:ext cx="1691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1691640"/>
            <a:ext cx="73152" cy="868680"/>
          </a:xfrm>
          <a:prstGeom prst="rect">
            <a:avLst/>
          </a:prstGeom>
          <a:solidFill>
            <a:srgbClr val="1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1837944"/>
            <a:ext cx="139903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结果队列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2148840"/>
            <a:ext cx="1399032" cy="35661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按时间戳选择最新结果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2121408"/>
            <a:ext cx="438912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46920" y="1691640"/>
            <a:ext cx="1691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691640"/>
            <a:ext cx="73152" cy="868680"/>
          </a:xfrm>
          <a:prstGeom prst="rect">
            <a:avLst/>
          </a:prstGeom>
          <a:solidFill>
            <a:srgbClr val="4A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2" y="1837944"/>
            <a:ext cx="139903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显示/推流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2148840"/>
            <a:ext cx="1399032" cy="35661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画框、告警、RTSP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3794760"/>
            <a:ext cx="9966960" cy="914400"/>
          </a:xfrm>
          <a:prstGeom prst="round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61872" y="4023360"/>
            <a:ext cx="10972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E1F32"/>
                </a:solidFill>
                <a:latin typeface="Microsoft YaHei"/>
              </a:rPr>
              <a:t>关键设计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005072"/>
            <a:ext cx="8001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icrosoft YaHei"/>
              </a:rPr>
              <a:t>用“最新帧优先 + 有限队列 + 结果复用”控制实时延迟；固定视频负责严谨对比，实时 RTSP 负责演示。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08 多线程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NPU 多 context 并行推理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这是导师关注的硬件优化主线，也是本项目最强的系统性贡献之一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0116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73152" cy="777240"/>
          </a:xfrm>
          <a:prstGeom prst="rect">
            <a:avLst/>
          </a:prstGeom>
          <a:solidFill>
            <a:srgbClr val="1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75104"/>
            <a:ext cx="171907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FrameTask 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1719072" cy="26517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待检测帧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261872"/>
            <a:ext cx="21488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261872"/>
            <a:ext cx="73152" cy="713232"/>
          </a:xfrm>
          <a:prstGeom prst="rect">
            <a:avLst/>
          </a:prstGeom>
          <a:solidFill>
            <a:srgbClr val="EF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2231" y="1408175"/>
            <a:ext cx="185623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Worker 1
RKNN Context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240280"/>
            <a:ext cx="21488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7639" y="2240280"/>
            <a:ext cx="73152" cy="713232"/>
          </a:xfrm>
          <a:prstGeom prst="rect">
            <a:avLst/>
          </a:prstGeom>
          <a:solidFill>
            <a:srgbClr val="EF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2386584"/>
            <a:ext cx="185623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Worker 2
RKNN Context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3218688"/>
            <a:ext cx="21488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3218688"/>
            <a:ext cx="73152" cy="7132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2231" y="3364992"/>
            <a:ext cx="185623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可扩展 Worker 3/4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240280"/>
            <a:ext cx="20116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240280"/>
            <a:ext cx="73152" cy="777240"/>
          </a:xfrm>
          <a:prstGeom prst="rect">
            <a:avLst/>
          </a:prstGeom>
          <a:solidFill>
            <a:srgbClr val="4A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2386584"/>
            <a:ext cx="171907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DetectionResult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697480"/>
            <a:ext cx="1719072" cy="26517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结果合并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2240280"/>
            <a:ext cx="141732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12680" y="2240280"/>
            <a:ext cx="73152" cy="7772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77272" y="2386584"/>
            <a:ext cx="112471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RTSP 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77272" y="2697480"/>
            <a:ext cx="1124712" cy="26517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最新结果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926080" y="1600200"/>
            <a:ext cx="1024128" cy="612648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26080" y="2212848"/>
            <a:ext cx="1024128" cy="384048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26080" y="2212848"/>
            <a:ext cx="1024128" cy="1353312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126480" y="1627632"/>
            <a:ext cx="1170432" cy="886968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26480" y="2596896"/>
            <a:ext cx="1170432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126480" y="2670048"/>
            <a:ext cx="1170432" cy="896112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26880" y="2615184"/>
            <a:ext cx="667512" cy="0"/>
          </a:xfrm>
          <a:prstGeom prst="line">
            <a:avLst/>
          </a:prstGeom>
          <a:ln w="22860">
            <a:solidFill>
              <a:srgbClr val="12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60120" y="4754880"/>
            <a:ext cx="1143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E1F32"/>
                </a:solidFill>
                <a:latin typeface="Microsoft YaHei"/>
              </a:rPr>
              <a:t>实测结论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4736592"/>
            <a:ext cx="89611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icrosoft YaHei"/>
              </a:rPr>
              <a:t>双 context 在每帧检测模式下提高 NPU FPS 并降低延迟；但实时观看默认仍采用策略优化路径，以获得更稳的画面体验。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09 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实时策略：检测间隔、ROI、跟踪与平滑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目标是减少不必要推理，同时让显示框更稳定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5262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005840"/>
          </a:xfrm>
          <a:prstGeom prst="rect">
            <a:avLst/>
          </a:prstGeom>
          <a:solidFill>
            <a:srgbClr val="1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63624"/>
            <a:ext cx="423367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detect_every_n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4233672" cy="4937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每 N 帧执行一次完整 NPU 检测；中间帧复用或跟踪结果。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45262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0058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63624"/>
            <a:ext cx="423367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动态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74519"/>
            <a:ext cx="4233672" cy="4937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围绕历史目标区域裁剪并周期性全帧刷新，兼顾速度和漏检风险。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45262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73152" cy="1005840"/>
          </a:xfrm>
          <a:prstGeom prst="rect">
            <a:avLst/>
          </a:prstGeom>
          <a:solidFill>
            <a:srgbClr val="EF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163824"/>
            <a:ext cx="423367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轻量跟踪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474720"/>
            <a:ext cx="4233672" cy="4937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motion 线性位移预测；optflow 使用 Lucas-Kanade 稀疏光流。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45262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73152" cy="1005840"/>
          </a:xfrm>
          <a:prstGeom prst="rect">
            <a:avLst/>
          </a:prstGeom>
          <a:solidFill>
            <a:srgbClr val="4A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163824"/>
            <a:ext cx="423367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框平滑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474720"/>
            <a:ext cx="4233672" cy="4937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对检测框坐标做加权融合，减少左右抖动。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983480"/>
            <a:ext cx="9966960" cy="548640"/>
          </a:xfrm>
          <a:prstGeom prst="roundRect">
            <a:avLst/>
          </a:prstGeom>
          <a:solidFill>
            <a:srgbClr val="E5EFF8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5138928"/>
            <a:ext cx="94183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推荐演示：detect_every_n=2，motion tracking，box smoothing on，dynamic ROI on。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10 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检测效果与可视化输出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固定视频和实时 RTSP 均支持检测框、类别置信度和告警叠加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17320"/>
            <a:ext cx="5303520" cy="3246120"/>
          </a:xfrm>
          <a:prstGeom prst="rect">
            <a:avLst/>
          </a:prstGeom>
          <a:solidFill>
            <a:srgbClr val="0E1F32"/>
          </a:solidFill>
          <a:ln w="10160">
            <a:solidFill>
              <a:srgbClr val="0E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432" y="1783080"/>
            <a:ext cx="4700016" cy="2487168"/>
          </a:xfrm>
          <a:prstGeom prst="rect">
            <a:avLst/>
          </a:prstGeom>
          <a:solidFill>
            <a:srgbClr val="F1F7FC"/>
          </a:solidFill>
          <a:ln w="10160">
            <a:solidFill>
              <a:srgbClr val="F1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5880" y="1993392"/>
            <a:ext cx="219456" cy="1737360"/>
          </a:xfrm>
          <a:prstGeom prst="rect">
            <a:avLst/>
          </a:prstGeom>
          <a:solidFill>
            <a:srgbClr val="E5EFF8"/>
          </a:solidFill>
          <a:ln w="10160"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84248" y="1993392"/>
            <a:ext cx="219456" cy="1737360"/>
          </a:xfrm>
          <a:prstGeom prst="rect">
            <a:avLst/>
          </a:prstGeom>
          <a:solidFill>
            <a:srgbClr val="E5EFF8"/>
          </a:solidFill>
          <a:ln w="10160"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42615" y="1993392"/>
            <a:ext cx="219456" cy="1737360"/>
          </a:xfrm>
          <a:prstGeom prst="rect">
            <a:avLst/>
          </a:prstGeom>
          <a:solidFill>
            <a:srgbClr val="E5EFF8"/>
          </a:solidFill>
          <a:ln w="10160"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00984" y="1993392"/>
            <a:ext cx="219456" cy="1737360"/>
          </a:xfrm>
          <a:prstGeom prst="rect">
            <a:avLst/>
          </a:prstGeom>
          <a:solidFill>
            <a:srgbClr val="E5EFF8"/>
          </a:solidFill>
          <a:ln w="10160"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59352" y="1993392"/>
            <a:ext cx="219456" cy="1737360"/>
          </a:xfrm>
          <a:prstGeom prst="rect">
            <a:avLst/>
          </a:prstGeom>
          <a:solidFill>
            <a:srgbClr val="E5EFF8"/>
          </a:solidFill>
          <a:ln w="10160"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993392"/>
            <a:ext cx="219456" cy="1737360"/>
          </a:xfrm>
          <a:prstGeom prst="rect">
            <a:avLst/>
          </a:prstGeom>
          <a:solidFill>
            <a:srgbClr val="E5EFF8"/>
          </a:solidFill>
          <a:ln w="10160"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2816352"/>
            <a:ext cx="841248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2633472"/>
            <a:ext cx="1115568" cy="640080"/>
          </a:xfrm>
          <a:prstGeom prst="rect">
            <a:avLst/>
          </a:prstGeom>
          <a:noFill/>
          <a:ln w="27940">
            <a:solidFill>
              <a:srgbClr val="4A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44368" y="2331720"/>
            <a:ext cx="1554480" cy="320040"/>
          </a:xfrm>
          <a:prstGeom prst="rect">
            <a:avLst/>
          </a:prstGeom>
          <a:solidFill>
            <a:srgbClr val="4AAD5C"/>
          </a:solidFill>
          <a:ln w="10160">
            <a:solidFill>
              <a:srgbClr val="4A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6664" y="2404872"/>
            <a:ext cx="1325880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drone 0.61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70432" y="1783080"/>
            <a:ext cx="1600200" cy="292608"/>
          </a:xfrm>
          <a:prstGeom prst="rect">
            <a:avLst/>
          </a:prstGeom>
          <a:solidFill>
            <a:srgbClr val="D6473F"/>
          </a:solidFill>
          <a:ln w="10160">
            <a:solidFill>
              <a:srgbClr val="D64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1856231"/>
            <a:ext cx="1234440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UAV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370832"/>
            <a:ext cx="23774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5EFF8"/>
                </a:solidFill>
                <a:latin typeface="Microsoft YaHei"/>
              </a:rPr>
              <a:t>示意：检测框 + 告警条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645920"/>
            <a:ext cx="4480560" cy="1920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离线视频：输出带框 MP4、逐帧 CSV、ROI JSONL 和 alarm_events.csv。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实时演示：电脑端可通过 RTSP 地址查看检测画面。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</a:rPr>
              <a:t>• 无继电器/蜂鸣器条件下，软件告警提供更直观、可记录的替代反馈。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11 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实验对比：优化不是“硬件越多越好”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最终推荐基于端到端效果，而不是单个算子是否硬件加速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331720" cy="2331720"/>
          </a:xfrm>
          <a:prstGeom prst="round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1783080"/>
            <a:ext cx="1417320" cy="310896"/>
          </a:xfrm>
          <a:prstGeom prst="roundRect">
            <a:avLst/>
          </a:prstGeom>
          <a:solidFill>
            <a:srgbClr val="1266AA"/>
          </a:solidFill>
          <a:ln w="10160">
            <a:solidFill>
              <a:srgbClr val="12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837943"/>
            <a:ext cx="127101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硬件基线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67712"/>
            <a:ext cx="192024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E1F32"/>
                </a:solidFill>
                <a:latin typeface="Microsoft YaHei"/>
              </a:rPr>
              <a:t>单 context 每帧检测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92024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</a:rPr>
              <a:t>NPU FPS≈8.59
延迟≈268.89 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554480"/>
            <a:ext cx="2331720" cy="2331720"/>
          </a:xfrm>
          <a:prstGeom prst="roundRect">
            <a:avLst/>
          </a:prstGeom>
          <a:solidFill>
            <a:srgbClr val="E5EFF8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76472" y="1783080"/>
            <a:ext cx="1417320" cy="310896"/>
          </a:xfrm>
          <a:prstGeom prst="roundRect">
            <a:avLst/>
          </a:prstGeom>
          <a:solidFill>
            <a:srgbClr val="EF892B"/>
          </a:solidFill>
          <a:ln w="10160">
            <a:solidFill>
              <a:srgbClr val="EF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9624" y="1837943"/>
            <a:ext cx="127101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并行推理证据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267712"/>
            <a:ext cx="192024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E1F32"/>
                </a:solidFill>
                <a:latin typeface="Microsoft YaHei"/>
              </a:rPr>
              <a:t>双 context 每帧检测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816352"/>
            <a:ext cx="192024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</a:rPr>
              <a:t>NPU FPS≈10.64
延迟≈173.58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554480"/>
            <a:ext cx="2331720" cy="2331720"/>
          </a:xfrm>
          <a:prstGeom prst="round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65392" y="1783080"/>
            <a:ext cx="1417320" cy="310896"/>
          </a:xfrm>
          <a:prstGeom prst="roundRect">
            <a:avLst/>
          </a:prstGeom>
          <a:solidFill>
            <a:srgbClr val="4AAD5C"/>
          </a:solidFill>
          <a:ln w="10160">
            <a:solidFill>
              <a:srgbClr val="4A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1837943"/>
            <a:ext cx="127101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演示默认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267712"/>
            <a:ext cx="192024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E1F32"/>
                </a:solidFill>
                <a:latin typeface="Microsoft YaHei"/>
              </a:rPr>
              <a:t>策略优化实时显示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816352"/>
            <a:ext cx="192024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</a:rPr>
              <a:t>detect_every_n=2
跟踪+平滑+ROI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554480"/>
            <a:ext cx="2331720" cy="2331720"/>
          </a:xfrm>
          <a:prstGeom prst="round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54311" y="1783080"/>
            <a:ext cx="1417320" cy="310896"/>
          </a:xfrm>
          <a:prstGeom prst="roundRect">
            <a:avLst/>
          </a:prstGeom>
          <a:solidFill>
            <a:srgbClr val="26A69A"/>
          </a:solidFill>
          <a:ln w="1016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27463" y="1837943"/>
            <a:ext cx="127101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优化实验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1" y="2267712"/>
            <a:ext cx="192024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E1F32"/>
                </a:solidFill>
                <a:latin typeface="Microsoft YaHei"/>
              </a:rPr>
              <a:t>RGA/zero-copy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1" y="2816352"/>
            <a:ext cx="192024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</a:rPr>
              <a:t>部分阶段有效
需端到端判断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E1F32"/>
                </a:solidFill>
                <a:latin typeface="Microsoft YaHei"/>
              </a:rPr>
              <a:t>论文结论口径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690872"/>
            <a:ext cx="88696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icrosoft YaHei"/>
              </a:rPr>
              <a:t>多 context 证明 NPU 并行能力；实时演示采用更稳的策略优化配置；RGA 与 zero-copy 作为可切换实验路径记录正负结果。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12 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性能剖析与硬件优化路径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通过环境变量开关做可重复实验，避免把探索路径写成默认结论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30175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417320"/>
            <a:ext cx="73152" cy="749808"/>
          </a:xfrm>
          <a:prstGeom prst="rect">
            <a:avLst/>
          </a:prstGeom>
          <a:solidFill>
            <a:srgbClr val="1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563624"/>
            <a:ext cx="272491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RK_YOLO_PROFILE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874519"/>
            <a:ext cx="2724912" cy="23774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prepare / input / run / output / decode / 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23160"/>
            <a:ext cx="30175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423160"/>
            <a:ext cx="73152" cy="749808"/>
          </a:xfrm>
          <a:prstGeom prst="rect">
            <a:avLst/>
          </a:prstGeom>
          <a:solidFill>
            <a:srgbClr val="EF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69464"/>
            <a:ext cx="272491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RK_YOLO_ZERO_COPY_INPUT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880360"/>
            <a:ext cx="2724912" cy="23774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rknn_create_mem + rknn_set_io_mem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429000"/>
            <a:ext cx="30175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429000"/>
            <a:ext cx="73152" cy="74980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575304"/>
            <a:ext cx="272491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RK_YOLO_PREPROCESS=rga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886200"/>
            <a:ext cx="2724912" cy="23774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RGA resize / cvt_resize / letterbox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1417320"/>
            <a:ext cx="6355080" cy="2761488"/>
          </a:xfrm>
          <a:prstGeom prst="round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719072"/>
            <a:ext cx="10972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E1F32"/>
                </a:solidFill>
                <a:latin typeface="Microsoft YaHei"/>
              </a:rPr>
              <a:t>当前判断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148840"/>
            <a:ext cx="5577840" cy="12344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</a:rPr>
              <a:t>• zero-copy 输入上传阶段变快，但整体 `rknn_run` 上升，未作为默认。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</a:rPr>
              <a:t>• RGA 在高分辨率输入和部分预处理路径上有收益，但仍需按端到端延迟判断。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</a:rPr>
              <a:t>• INT8 量化需要校准集、精度对比和板端闭环，当前作为后续优化。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56032"/>
            <a:ext cx="3657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CC"/>
                </a:solidFill>
                <a:latin typeface="Microsoft YaHei"/>
              </a:rPr>
              <a:t>13 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786384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E1F32"/>
                </a:solidFill>
                <a:latin typeface="Microsoft YaHei"/>
              </a:rPr>
              <a:t>目标调整与不足说明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33271"/>
            <a:ext cx="98755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答辩时建议正面说明：哪些已完成，哪些保留为后续工作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25880"/>
            <a:ext cx="1965960" cy="658368"/>
          </a:xfrm>
          <a:prstGeom prst="rect">
            <a:avLst/>
          </a:prstGeom>
          <a:solidFill>
            <a:srgbClr val="E5EFF8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1325880"/>
            <a:ext cx="41605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03720" y="1325880"/>
            <a:ext cx="4251960" cy="658368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08760"/>
            <a:ext cx="164592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Microsoft YaHei"/>
              </a:rPr>
              <a:t>INT8 量化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1490472"/>
            <a:ext cx="3794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已做离线准备，缺少完整精度-速度闭环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490472"/>
            <a:ext cx="3749039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后续补充校准集和板端对比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194560"/>
            <a:ext cx="1965960" cy="658368"/>
          </a:xfrm>
          <a:prstGeom prst="rect">
            <a:avLst/>
          </a:prstGeom>
          <a:solidFill>
            <a:srgbClr val="E5EFF8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194560"/>
            <a:ext cx="41605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03720" y="2194560"/>
            <a:ext cx="4251960" cy="658368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77440"/>
            <a:ext cx="164592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Microsoft YaHei"/>
              </a:rPr>
              <a:t>RGA 主路径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359152"/>
            <a:ext cx="3794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已有多条实验路径，默认仍选择稳定 OpenCV/FP 路线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359152"/>
            <a:ext cx="3749039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继续优化 MPP/RGA 数据通路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063239"/>
            <a:ext cx="1965960" cy="658368"/>
          </a:xfrm>
          <a:prstGeom prst="rect">
            <a:avLst/>
          </a:prstGeom>
          <a:solidFill>
            <a:srgbClr val="E5EFF8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3063239"/>
            <a:ext cx="41605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3063239"/>
            <a:ext cx="4251960" cy="658368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246120"/>
            <a:ext cx="164592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Microsoft YaHei"/>
              </a:rPr>
              <a:t>GPIO 报警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3227832"/>
            <a:ext cx="3794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无继电器/蜂鸣器硬件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227832"/>
            <a:ext cx="3749039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软件告警叠加 + alarm CSV 作为可视替代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931920"/>
            <a:ext cx="1965960" cy="658368"/>
          </a:xfrm>
          <a:prstGeom prst="rect">
            <a:avLst/>
          </a:prstGeom>
          <a:solidFill>
            <a:srgbClr val="E5EFF8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931920"/>
            <a:ext cx="41605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3931920"/>
            <a:ext cx="4251960" cy="658368"/>
          </a:xfrm>
          <a:prstGeom prst="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114800"/>
            <a:ext cx="164592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E1F32"/>
                </a:solidFill>
                <a:latin typeface="Microsoft YaHei"/>
              </a:rPr>
              <a:t>真实飞行场景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2" y="4096511"/>
            <a:ext cx="3794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受场地与无人机条件限制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096511"/>
            <a:ext cx="3749039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公开视频 + 教室小目标演示补充验证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4937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基于嵌入式平台的目标检测系统研究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5952" y="6428232"/>
            <a:ext cx="43891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318504"/>
            <a:ext cx="11064240" cy="9144"/>
          </a:xfrm>
          <a:prstGeom prst="rect">
            <a:avLst/>
          </a:prstGeom>
          <a:solidFill>
            <a:srgbClr val="C4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2"/>
          </a:solidFill>
          <a:ln w="10160">
            <a:solidFill>
              <a:srgbClr val="0E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89611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E5EFF8"/>
                </a:solidFill>
                <a:latin typeface="Microsoft YaHei"/>
              </a:rPr>
              <a:t>本课题完成了从模型到 RK3588 板端实时检测系统的工程闭环，并围绕 NPU 多线程与硬件优化做了可复现实验。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88920"/>
            <a:ext cx="3154680" cy="914400"/>
          </a:xfrm>
          <a:prstGeom prst="round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788920"/>
            <a:ext cx="73152" cy="9144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935224"/>
            <a:ext cx="286207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系统闭环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246120"/>
            <a:ext cx="2862072" cy="40233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训练/转换/部署/固定视频/RTSP 显示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788920"/>
            <a:ext cx="3154680" cy="914400"/>
          </a:xfrm>
          <a:prstGeom prst="round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788920"/>
            <a:ext cx="73152" cy="914400"/>
          </a:xfrm>
          <a:prstGeom prst="rect">
            <a:avLst/>
          </a:prstGeom>
          <a:solidFill>
            <a:srgbClr val="EF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935224"/>
            <a:ext cx="286207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优化闭环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3246120"/>
            <a:ext cx="2862072" cy="40233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detect_every_n、tracking、ROI、multi-context、RGA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788920"/>
            <a:ext cx="3154680" cy="914400"/>
          </a:xfrm>
          <a:prstGeom prst="roundRect">
            <a:avLst/>
          </a:prstGeom>
          <a:solidFill>
            <a:srgbClr val="F1F7FC"/>
          </a:solidFill>
          <a:ln w="10160">
            <a:solidFill>
              <a:srgbClr val="C4D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2788920"/>
            <a:ext cx="73152" cy="914400"/>
          </a:xfrm>
          <a:prstGeom prst="rect">
            <a:avLst/>
          </a:prstGeom>
          <a:solidFill>
            <a:srgbClr val="4A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2935224"/>
            <a:ext cx="286207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1F32"/>
                </a:solidFill>
                <a:latin typeface="Microsoft YaHei"/>
              </a:rPr>
              <a:t>论文闭环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3246120"/>
            <a:ext cx="2862072" cy="402335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实验记录、代码映射、格式合规、附录材料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100584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6A69A"/>
                </a:solidFill>
                <a:latin typeface="Microsoft YaHei"/>
              </a:rPr>
              <a:t>答辩主线：我不是提出一个全新的检测网络，而是在 RK3588 上完成了可运行、可测量、可解释的嵌入式目标检测系统。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36576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谢谢各位老师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